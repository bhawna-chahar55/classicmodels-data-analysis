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C8102E"/>
            </a:solidFill>
            <a:ln w="38100" cap="flat">
              <a:solidFill>
                <a:srgbClr val="C8102E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4304D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8102E"/>
              </a:solidFill>
              <a:ln w="9525" cap="flat">
                <a:solidFill>
                  <a:srgbClr val="C810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0.29</c:v>
                </c:pt>
                <c:pt idx="1">
                  <c:v>0.29</c:v>
                </c:pt>
                <c:pt idx="2">
                  <c:v>0.22</c:v>
                </c:pt>
                <c:pt idx="3">
                  <c:v>0.19</c:v>
                </c:pt>
                <c:pt idx="4">
                  <c:v>0.25</c:v>
                </c:pt>
                <c:pt idx="5">
                  <c:v>0.34</c:v>
                </c:pt>
                <c:pt idx="6">
                  <c:v>0.33</c:v>
                </c:pt>
                <c:pt idx="7">
                  <c:v>0.42</c:v>
                </c:pt>
                <c:pt idx="8">
                  <c:v>0.28</c:v>
                </c:pt>
                <c:pt idx="9">
                  <c:v>0.5</c:v>
                </c:pt>
                <c:pt idx="10">
                  <c:v>0.98</c:v>
                </c:pt>
                <c:pt idx="11">
                  <c:v>0.43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300" u="none">
                  <a:solidFill>
                    <a:srgbClr val="24304D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4304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1962 Lancia Delta</c:v>
                  </c:pt>
                  <c:pt idx="1">
                    <c:v>2002 Suzuki XREO</c:v>
                  </c:pt>
                  <c:pt idx="2">
                    <c:v>1998 Chrysler Plymouth</c:v>
                  </c:pt>
                  <c:pt idx="3">
                    <c:v>1968 Ford Mustang</c:v>
                  </c:pt>
                  <c:pt idx="4">
                    <c:v>1969 Ford Falcon</c:v>
                  </c:pt>
                  <c:pt idx="5">
                    <c:v>1980s Black Hawk</c:v>
                  </c:pt>
                  <c:pt idx="6">
                    <c:v>2003 Harley-Davidson</c:v>
                  </c:pt>
                  <c:pt idx="7">
                    <c:v>1952 Alpine Renault</c:v>
                  </c:pt>
                  <c:pt idx="8">
                    <c:v>2001 Ferrari Enzo</c:v>
                  </c:pt>
                  <c:pt idx="9">
                    <c:v>1992 Ferrari 360 Spider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65</c:v>
                </c:pt>
                <c:pt idx="1">
                  <c:v>65</c:v>
                </c:pt>
                <c:pt idx="2">
                  <c:v>69</c:v>
                </c:pt>
                <c:pt idx="3">
                  <c:v>73</c:v>
                </c:pt>
                <c:pt idx="4">
                  <c:v>77</c:v>
                </c:pt>
                <c:pt idx="5">
                  <c:v>80</c:v>
                </c:pt>
                <c:pt idx="6">
                  <c:v>82</c:v>
                </c:pt>
                <c:pt idx="7">
                  <c:v>88</c:v>
                </c:pt>
                <c:pt idx="8">
                  <c:v>105</c:v>
                </c:pt>
                <c:pt idx="9">
                  <c:v>120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24304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430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Product Line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C8102E"/>
              </a:solidFill>
              <a:effectLst/>
            </c:spPr>
          </c:dPt>
          <c:dPt>
            <c:idx val="2"/>
            <c:bubble3D val="0"/>
            <c:spPr>
              <a:solidFill>
                <a:srgbClr val="9AA6CC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5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5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5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Classic Cars</c:v>
                </c:pt>
                <c:pt idx="1">
                  <c:v>Motorcycles</c:v>
                </c:pt>
                <c:pt idx="2">
                  <c:v>Planes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0.725</c:v>
                </c:pt>
                <c:pt idx="1">
                  <c:v>0.178</c:v>
                </c:pt>
                <c:pt idx="2">
                  <c:v>0.097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500">
              <a:solidFill>
                <a:srgbClr val="24304D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4304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Switzerland</c:v>
                  </c:pt>
                  <c:pt idx="1">
                    <c:v>Italy</c:v>
                  </c:pt>
                  <c:pt idx="2">
                    <c:v>Australia</c:v>
                  </c:pt>
                  <c:pt idx="3">
                    <c:v>New Zealand</c:v>
                  </c:pt>
                  <c:pt idx="4">
                    <c:v>UK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0.11</c:v>
                </c:pt>
                <c:pt idx="1">
                  <c:v>0.18</c:v>
                </c:pt>
                <c:pt idx="2">
                  <c:v>0.2</c:v>
                </c:pt>
                <c:pt idx="3">
                  <c:v>0.23</c:v>
                </c:pt>
                <c:pt idx="4">
                  <c:v>0.24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300" u="none">
                  <a:solidFill>
                    <a:srgbClr val="24304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430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4304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Vida Sport</c:v>
                  </c:pt>
                  <c:pt idx="1">
                    <c:v>Land of Toys</c:v>
                  </c:pt>
                  <c:pt idx="2">
                    <c:v>Australian Collectors</c:v>
                  </c:pt>
                  <c:pt idx="3">
                    <c:v>Mini Gifts Distrib.</c:v>
                  </c:pt>
                  <c:pt idx="4">
                    <c:v>Euro+ Shopping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0.11</c:v>
                </c:pt>
                <c:pt idx="1">
                  <c:v>0.13</c:v>
                </c:pt>
                <c:pt idx="2">
                  <c:v>0.13</c:v>
                </c:pt>
                <c:pt idx="3">
                  <c:v>0.23</c:v>
                </c:pt>
                <c:pt idx="4">
                  <c:v>0.34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300" u="none">
                  <a:solidFill>
                    <a:srgbClr val="24304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430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300" kern="0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CLASSICMODELS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7259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2004 Sales Performance &amp; Growth Analysis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4612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revenue comes from, when it spikes, and which products and markets actually drive the business — built in MySQL and Power BI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4434840"/>
            <a:ext cx="109728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4617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  |  Data Analyst Portfolio Project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Context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ClassicModels is a retailer of scale-model cars, planes, ships, and trains, selling to customers worldwide. This analysis focuses on 2004 — the business's strongest year on record — to understand what drove performance and where the risk is concentrated.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788920"/>
            <a:ext cx="1017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the year does revenue actually spike — and why?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3749040"/>
            <a:ext cx="1017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specific products and markets drive results?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47548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754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709160"/>
            <a:ext cx="1017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concentrated is revenue in a few products or accounts?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ClassicModels Sales Analysis — 2004 Performance Review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445752" y="6537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transactional records to an interactive dashboard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6616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an 8-table relational schema and wrote 20+ queries using CTEs, ROW_NUMBER() and LAG() window functions, and CASE-based logic for segmentation and trend analysis.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34840" y="187452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219456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488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017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+ DAX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56616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interactive dashboard with year-slicers, DAX measures for revenue and AOV, and drilldowns by product, country, and customer.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21040" y="187452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41080" y="219456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4108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3017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Analysis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595360" y="356616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customers by value, tracked spending trends order-over-order, and turned dashboard numbers into concrete recommendations.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ClassicModels Sales Analysis — 2004 Performance Review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45752" y="6537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</a:t>
            </a:r>
            <a:endParaRPr lang="en-US" sz="3200" dirty="0"/>
          </a:p>
        </p:txBody>
      </p:sp>
      <p:pic>
        <p:nvPicPr>
          <p:cNvPr id="3" name="Image 0" descr="/home/claude/cm_assets/dashboard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406640" cy="42793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183880" y="1325880"/>
            <a:ext cx="3474720" cy="4279392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412480" y="1508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412480" y="21031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year slicer — 2003, 2004, 2005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30175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visuals: revenue trend, top products, product line mix, and geography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39319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Power Query transformations and DAX measures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48463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and charts update instantly when the year filter changes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ClassicModels Sales Analysis — 2004 Performance Review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445752" y="6537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2004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21031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41A3D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46888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$4.52M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118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429000" y="21031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41A3D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246888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151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36118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09360" y="21031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41A3D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246888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$29.91K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36118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89720" y="21031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41A3D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89720" y="246888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122 / 110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189720" y="36118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/ Products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846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reflect 2004, the company's strongest year in the dataset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ClassicModels Sales Analysis — 2004 Performance Review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445752" y="6537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November Alone Generated 22% of the Year's Revenue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revenue, 2004 ($ millions)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11091672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25780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nearly doubles from October ($0.50M) to November ($0.98M) before falling back in December — a pre-holiday ordering spike consistent with a gift/collectibles business, and April is the year's low point ($0.19M).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ClassicModels Sales Analysis — 2004 Performance Review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445752" y="6537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Ferrari Models Alone Generated $225K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by revenue, 2004 ($ thousands)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11091672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ClassicModels Sales Analysis — 2004 Performance Review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9445752" y="6537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Is Concentrated in One Product Line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46304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492240" y="1737360"/>
            <a:ext cx="512064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766560" y="19659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72.5%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6766560" y="2880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2004 revenue came from Classic Cars alone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766560" y="352044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Cars alone drove 72.5% of 2004 revenue — heavy reliance on a single line.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ClassicModels Sales Analysis — 2004 Performance Review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445752" y="6537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UK Leads — and a Few Accounts Drive Outsized Revenue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Countries by Revenue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53949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61772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UK leads, and the USA — despite having the largest customer count — doesn't crack the top 5.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263640" y="12801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Customers by Revenue</a:t>
            </a:r>
            <a:endParaRPr lang="en-US" sz="20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63640" y="1828800"/>
          <a:ext cx="53949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263640" y="461772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5 of 122 customers (4%) generated ~21% of 2004 revenue.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ClassicModels Sales Analysis — 2004 Performance Review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445752" y="6537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Quarter of Customers Drive Nearly Half of Revenue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by total payments received, 2003–05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25400">
            <a:solidFill>
              <a:srgbClr val="C99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65960" y="2103120"/>
            <a:ext cx="731520" cy="731520"/>
          </a:xfrm>
          <a:prstGeom prst="ellipse">
            <a:avLst/>
          </a:prstGeom>
          <a:solidFill>
            <a:srgbClr val="C99A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6596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71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429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customers (26%)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86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$4.18M — 47% of revenue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434840" y="182880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25400">
            <a:solidFill>
              <a:srgbClr val="8C96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0" y="2103120"/>
            <a:ext cx="731520" cy="731520"/>
          </a:xfrm>
          <a:prstGeom prst="ellipse">
            <a:avLst/>
          </a:prstGeom>
          <a:solidFill>
            <a:srgbClr val="8C96A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85216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2971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3429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customers (54%)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3886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$3.96M — 45% of revenue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321040" y="182880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25400">
            <a:solidFill>
              <a:srgbClr val="A967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38360" y="2103120"/>
            <a:ext cx="731520" cy="731520"/>
          </a:xfrm>
          <a:prstGeom prst="ellipse">
            <a:avLst/>
          </a:prstGeom>
          <a:solidFill>
            <a:srgbClr val="A967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73836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971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429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customers (20%)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3886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$0.71M — 8% of revenue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93776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Gold-tier customers are just over a quarter of the base but generate nearly half of all revenue — a strong case for a dedicated key-account program rather than treating every customer the same.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ClassicModels Sales Analysis — 2004 Performance Review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445752" y="6537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94360" cy="5943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435608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inventory around the November spike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920240"/>
            <a:ext cx="10177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revenue nearly doubling in November, stock and staffing should ramp ahead of Q4 rather than reactively — protecting fulfillment during the year's most critical month.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3035808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Diversify beyond Classic Cars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520440"/>
            <a:ext cx="10177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72.5% of revenue, the Classic Cars line represents concentration risk. Cross-selling Motorcycles and Planes to existing Classic Car buyers is a natural next step.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594360" cy="5943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709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636008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and grow key accounts, and re-engage the USA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5120640"/>
            <a:ext cx="10177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5 customers already drive ~21% of revenue — dedicated account management protects that base, while the USA's absence from the top 5 (despite having the most customers) signals an untapped growth market.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ClassicModels Sales Analysis — 2004 Performance Review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445752" y="6537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Skills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276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8-table schema, joins, CTEs, and window functions across orders and payments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1645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16276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 Functions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2860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ROW_NUMBER() for top customer/product rankings; LAG() for MoM and order-over-order growth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1422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8006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CASE-based Gold/Silver/Bronze tiers and above-average spend detection via CTEs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63640" y="388620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4160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3796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41422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+ DAX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48006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with year slicers, drill-downs, and custom revenue/AOV measures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ClassicModels Sales Analysis — 2004 Performance Review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445752" y="6537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Connect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49808" y="3246120"/>
            <a:ext cx="109728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342900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SQL scripts, dashboard file, and write-up available on GitHub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0624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  |  Aspiring Data Analyst  |  SQL • Power BI • Python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2026-09-06T17:11:26Z</dcterms:created>
  <dcterms:modified xsi:type="dcterms:W3CDTF">2026-09-06T17:11:26Z</dcterms:modified>
</cp:coreProperties>
</file>