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spPr>
            <a:solidFill>
              <a:srgbClr val="990011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4121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0.29</c:v>
                </c:pt>
                <c:pt idx="1">
                  <c:v>0.29</c:v>
                </c:pt>
                <c:pt idx="2">
                  <c:v>0.22</c:v>
                </c:pt>
                <c:pt idx="3">
                  <c:v>0.19</c:v>
                </c:pt>
                <c:pt idx="4">
                  <c:v>0.25</c:v>
                </c:pt>
                <c:pt idx="5">
                  <c:v>0.34</c:v>
                </c:pt>
                <c:pt idx="6">
                  <c:v>0.33</c:v>
                </c:pt>
                <c:pt idx="7">
                  <c:v>0.42</c:v>
                </c:pt>
                <c:pt idx="8">
                  <c:v>0.28</c:v>
                </c:pt>
                <c:pt idx="9">
                  <c:v>0.5</c:v>
                </c:pt>
                <c:pt idx="10">
                  <c:v>0.98</c:v>
                </c:pt>
                <c:pt idx="11">
                  <c:v>0.43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24121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4121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F0DCD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A616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($K)</c:v>
                </c:pt>
              </c:strCache>
            </c:strRef>
          </c:tx>
          <c:spPr>
            <a:solidFill>
              <a:srgbClr val="990011"/>
            </a:solidFill>
            <a:effectLst/>
          </c:spPr>
          <c:invertIfNegative val="0"/>
          <c:dLbls>
            <c:numFmt formatCode="&quot;$&quot;0&quot;K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4121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1992 Ferrari 360 Spider</c:v>
                  </c:pt>
                  <c:pt idx="1">
                    <c:v>2001 Ferrari Enzo</c:v>
                  </c:pt>
                  <c:pt idx="2">
                    <c:v>1952 Alpine Renault</c:v>
                  </c:pt>
                  <c:pt idx="3">
                    <c:v>2003 Harley-Davidson</c:v>
                  </c:pt>
                  <c:pt idx="4">
                    <c:v>1980s Black Hawk</c:v>
                  </c:pt>
                  <c:pt idx="5">
                    <c:v>1969 Ford Falcon</c:v>
                  </c:pt>
                  <c:pt idx="6">
                    <c:v>1968 Ford Mustang</c:v>
                  </c:pt>
                  <c:pt idx="7">
                    <c:v>1998 Chrysler Plymouth</c:v>
                  </c:pt>
                  <c:pt idx="8">
                    <c:v>2002 Suzuki XREO</c:v>
                  </c:pt>
                  <c:pt idx="9">
                    <c:v>1962 Lancia Delta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120</c:v>
                </c:pt>
                <c:pt idx="1">
                  <c:v>105</c:v>
                </c:pt>
                <c:pt idx="2">
                  <c:v>88</c:v>
                </c:pt>
                <c:pt idx="3">
                  <c:v>82</c:v>
                </c:pt>
                <c:pt idx="4">
                  <c:v>80</c:v>
                </c:pt>
                <c:pt idx="5">
                  <c:v>77</c:v>
                </c:pt>
                <c:pt idx="6">
                  <c:v>73</c:v>
                </c:pt>
                <c:pt idx="7">
                  <c:v>69</c:v>
                </c:pt>
                <c:pt idx="8">
                  <c:v>65</c:v>
                </c:pt>
                <c:pt idx="9">
                  <c:v>65</c:v>
                </c:pt>
              </c:numCache>
            </c:numRef>
          </c:val>
        </c:ser>
        <c:dLbls>
          <c:numFmt formatCode="&quot;$&quot;0&quot;K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24121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24121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F0DCD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A616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 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990011"/>
              </a:solidFill>
              <a:effectLst/>
            </c:spPr>
          </c:dPt>
          <c:dPt>
            <c:idx val="1"/>
            <c:bubble3D val="0"/>
            <c:spPr>
              <a:solidFill>
                <a:srgbClr val="D46A78"/>
              </a:solidFill>
              <a:effectLst/>
            </c:spPr>
          </c:dPt>
          <c:dPt>
            <c:idx val="2"/>
            <c:bubble3D val="0"/>
            <c:spPr>
              <a:solidFill>
                <a:srgbClr val="F0B8BE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Classic Cars</c:v>
                </c:pt>
                <c:pt idx="1">
                  <c:v>Motorcycles</c:v>
                </c:pt>
                <c:pt idx="2">
                  <c:v>Planes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72.5</c:v>
                </c:pt>
                <c:pt idx="1">
                  <c:v>17.78</c:v>
                </c:pt>
                <c:pt idx="2">
                  <c:v>9.71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241214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spPr>
            <a:solidFill>
              <a:srgbClr val="990011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4121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UK</c:v>
                  </c:pt>
                  <c:pt idx="1">
                    <c:v>New Zealand</c:v>
                  </c:pt>
                  <c:pt idx="2">
                    <c:v>Australia</c:v>
                  </c:pt>
                  <c:pt idx="3">
                    <c:v>Italy</c:v>
                  </c:pt>
                  <c:pt idx="4">
                    <c:v>Switzerland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0.24</c:v>
                </c:pt>
                <c:pt idx="1">
                  <c:v>0.23</c:v>
                </c:pt>
                <c:pt idx="2">
                  <c:v>0.2</c:v>
                </c:pt>
                <c:pt idx="3">
                  <c:v>0.18</c:v>
                </c:pt>
                <c:pt idx="4">
                  <c:v>0.11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24121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24121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7A616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spPr>
            <a:solidFill>
              <a:srgbClr val="990011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4121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Euro+ Shopping</c:v>
                  </c:pt>
                  <c:pt idx="1">
                    <c:v>Mini Gifts Distrib.</c:v>
                  </c:pt>
                  <c:pt idx="2">
                    <c:v>Australian Collectors</c:v>
                  </c:pt>
                  <c:pt idx="3">
                    <c:v>Land of Toys</c:v>
                  </c:pt>
                  <c:pt idx="4">
                    <c:v>Vida Sport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0.34</c:v>
                </c:pt>
                <c:pt idx="1">
                  <c:v>0.23</c:v>
                </c:pt>
                <c:pt idx="2">
                  <c:v>0.13</c:v>
                </c:pt>
                <c:pt idx="3">
                  <c:v>0.13</c:v>
                </c:pt>
                <c:pt idx="4">
                  <c:v>0.11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24121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24121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7A616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chart" Target="/ppt/charts/chart5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9900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371600"/>
            <a:ext cx="4572000" cy="4572000"/>
          </a:xfrm>
          <a:prstGeom prst="ellipse">
            <a:avLst/>
          </a:prstGeom>
          <a:solidFill>
            <a:srgbClr val="B32233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754880"/>
            <a:ext cx="3657600" cy="3657600"/>
          </a:xfrm>
          <a:prstGeom prst="ellipse">
            <a:avLst/>
          </a:prstGeom>
          <a:solidFill>
            <a:srgbClr val="B3223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8288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CLASSICMODELS</a:t>
            </a:r>
            <a:endParaRPr lang="en-US" sz="4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56032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FCF6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2004 Sales Performance &amp; Growth Analysis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77240" y="3383280"/>
            <a:ext cx="1280160" cy="27432"/>
          </a:xfrm>
          <a:prstGeom prst="rect">
            <a:avLst/>
          </a:prstGeom>
          <a:solidFill>
            <a:srgbClr val="FCF6F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361188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revenue comes from, when it spikes, and which products and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markets actually drive the business — built in MySQL and Power BI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4B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Bhawna Kumari  |  Data Analyst Portfolio Project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CF6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88720"/>
            <a:ext cx="3474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</a:t>
            </a:r>
            <a:endParaRPr lang="en-US" sz="3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92608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ClassicModels is a retailer of scale-model cars, planes, ships, and trains, selling to customers worldwide.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48056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E4B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analysis focuses on 2004 — the business's strongest year on record — to understand what drove performance and where the risk is concentrated.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846320" y="1371600"/>
            <a:ext cx="411480" cy="41148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84632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486400" y="132588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in the year does revenue actually spike — and why?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846320" y="2286000"/>
            <a:ext cx="411480" cy="41148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846320" y="2286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0" y="224028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specific products and markets drive results?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846320" y="3200400"/>
            <a:ext cx="411480" cy="41148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846320" y="3200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0" y="315468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concentrated is revenue in a few products or accounts?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6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ClassicModels Sales Analysis — 2004 Performance Review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9875520" y="6537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6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Bhawna Kumari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Approach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6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transactional records to an interactive dashboard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20440" cy="4206240"/>
          </a:xfrm>
          <a:prstGeom prst="roundRect">
            <a:avLst>
              <a:gd name="adj" fmla="val 2078"/>
            </a:avLst>
          </a:prstGeom>
          <a:solidFill>
            <a:srgbClr val="FBEEEE"/>
          </a:solidFill>
          <a:ln w="12700">
            <a:solidFill>
              <a:srgbClr val="F0D6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057400"/>
            <a:ext cx="640080" cy="64008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CF6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8803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MySQL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429000"/>
            <a:ext cx="2971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4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Modeled an 8-table relational schema and wrote 20+ queries using CTEs, ROW_NUMBER() and LAG() window functions, and CASE-based logic for segmentation and trend analysis.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89120" y="1737360"/>
            <a:ext cx="3520440" cy="4206240"/>
          </a:xfrm>
          <a:prstGeom prst="roundRect">
            <a:avLst>
              <a:gd name="adj" fmla="val 2078"/>
            </a:avLst>
          </a:prstGeom>
          <a:solidFill>
            <a:srgbClr val="FBEEEE"/>
          </a:solidFill>
          <a:ln w="12700">
            <a:solidFill>
              <a:srgbClr val="F0D6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2057400"/>
            <a:ext cx="640080" cy="64008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63440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CF6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28803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 + DAX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3429000"/>
            <a:ext cx="2971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4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 interactive dashboard with year-slicers, DAX measures for revenue and AOV, and drill-downs by product, country, and customer.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0" y="1737360"/>
            <a:ext cx="3520440" cy="4206240"/>
          </a:xfrm>
          <a:prstGeom prst="roundRect">
            <a:avLst>
              <a:gd name="adj" fmla="val 2078"/>
            </a:avLst>
          </a:prstGeom>
          <a:solidFill>
            <a:srgbClr val="FBEEEE"/>
          </a:solidFill>
          <a:ln w="12700">
            <a:solidFill>
              <a:srgbClr val="F0D6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03920" y="2057400"/>
            <a:ext cx="640080" cy="64008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503920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CF6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8503920" y="28803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Analysis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503920" y="3429000"/>
            <a:ext cx="2971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4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Segmented customers by value, tracked spending trends order-over-order, and turned dashboard numbers into concrete recommendations.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6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ClassicModels Sales Analysis — 2004 Performance Review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9875520" y="6537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6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Bhawna Kumari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Dashboard</a:t>
            </a:r>
            <a:endParaRPr lang="en-US" sz="2600" dirty="0"/>
          </a:p>
        </p:txBody>
      </p:sp>
      <p:pic>
        <p:nvPicPr>
          <p:cNvPr id="3" name="Image 0" descr="/home/claude/cm/dash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97280"/>
            <a:ext cx="8092440" cy="467940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915400" y="1097280"/>
            <a:ext cx="2697480" cy="4679402"/>
          </a:xfrm>
          <a:prstGeom prst="roundRect">
            <a:avLst>
              <a:gd name="adj" fmla="val 2712"/>
            </a:avLst>
          </a:prstGeom>
          <a:solidFill>
            <a:srgbClr val="FBEEEE"/>
          </a:solidFill>
          <a:ln w="12700">
            <a:solidFill>
              <a:srgbClr val="F0D6D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098280" y="12801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does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9098280" y="1792224"/>
            <a:ext cx="73152" cy="73152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281160" y="1627632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4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year slicer — 2003, 2004, 2005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9098280" y="2660904"/>
            <a:ext cx="73152" cy="73152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9281160" y="2496312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4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visuals: revenue trend, top products, product line mix, and geography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9098280" y="3529584"/>
            <a:ext cx="73152" cy="73152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9281160" y="3364992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4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Power Query transformations and DAX measures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9098280" y="4398264"/>
            <a:ext cx="73152" cy="73152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9281160" y="4233672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4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 and charts update instantly when the year filter changes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6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ClassicModels Sales Analysis — 2004 Performance Review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9875520" y="6537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6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Bhawna Kumari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9900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2004 At a Glance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92024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B3223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228600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CF6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$4.52M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333756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383280" y="192024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B3223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520440" y="228600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CF6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151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3520440" y="333756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92024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B3223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355080" y="228600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CF6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$29.91K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6355080" y="333756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order value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052560" y="192024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B3223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189720" y="228600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CF6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122 / 110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9189720" y="333756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/ Products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6634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4B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reflect 2004, the company's strongest year in the dataset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ClassicModels Sales Analysis — 2004 Performance Review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9875520" y="6537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Bhawna Kumari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November Alone Generated 22% of the Year's Revenue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6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revenue, 2004 ($ millions)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600200"/>
          <a:ext cx="1115568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8064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7A6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nearly doubles from October ($0.50M) to November ($0.98M) before falling back in December — a pre-holiday ordering spike consistent with a gift/collectibles business, and April is the year's low point ($0.19M).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6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ClassicModels Sales Analysis — 2004 Performance Review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9875520" y="6537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6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Bhawna Kumari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Ferrari Models Alone Generated $225K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6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products by revenue, 2004 ($ thousands)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110642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6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ClassicModels Sales Analysis — 2004 Performance Review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9875520" y="6537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6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Bhawna Kumari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Is Concentrated — in One Product Line and a Few Accounts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3520440" cy="4892040"/>
          </a:xfrm>
          <a:prstGeom prst="roundRect">
            <a:avLst>
              <a:gd name="adj" fmla="val 2078"/>
            </a:avLst>
          </a:prstGeom>
          <a:solidFill>
            <a:srgbClr val="FBEEEE"/>
          </a:solidFill>
          <a:ln w="12700">
            <a:solidFill>
              <a:srgbClr val="F0D6D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173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Line</a:t>
            </a:r>
            <a:endParaRPr lang="en-US" sz="15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85800" y="1828800"/>
          <a:ext cx="329184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777240" y="457200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4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Cars alone drove 72.5% of 2004 revenue — heavy reliance on a single line.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4206240" y="1234440"/>
            <a:ext cx="3520440" cy="4892040"/>
          </a:xfrm>
          <a:prstGeom prst="roundRect">
            <a:avLst>
              <a:gd name="adj" fmla="val 2078"/>
            </a:avLst>
          </a:prstGeom>
          <a:solidFill>
            <a:srgbClr val="FBEEEE"/>
          </a:solidFill>
          <a:ln w="12700">
            <a:solidFill>
              <a:srgbClr val="F0D6D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434840" y="14173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Geography</a:t>
            </a:r>
            <a:endParaRPr lang="en-US" sz="1500" dirty="0"/>
          </a:p>
        </p:txBody>
      </p:sp>
      <p:graphicFrame>
        <p:nvGraphicFramePr>
          <p:cNvPr id="9" name="Chart 1" descr=""/>
          <p:cNvGraphicFramePr/>
          <p:nvPr/>
        </p:nvGraphicFramePr>
        <p:xfrm>
          <a:off x="4343400" y="1874520"/>
          <a:ext cx="324612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4434840" y="434340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4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UK leads, and the USA — despite having the largest customer count — doesn't crack the top 5.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7863840" y="1234440"/>
            <a:ext cx="3749040" cy="4892040"/>
          </a:xfrm>
          <a:prstGeom prst="roundRect">
            <a:avLst>
              <a:gd name="adj" fmla="val 1951"/>
            </a:avLst>
          </a:prstGeom>
          <a:solidFill>
            <a:srgbClr val="FBEEEE"/>
          </a:solidFill>
          <a:ln w="12700">
            <a:solidFill>
              <a:srgbClr val="F0D6D8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8092440" y="14173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Customers</a:t>
            </a:r>
            <a:endParaRPr lang="en-US" sz="1500" dirty="0"/>
          </a:p>
        </p:txBody>
      </p:sp>
      <p:graphicFrame>
        <p:nvGraphicFramePr>
          <p:cNvPr id="13" name="Chart 2" descr=""/>
          <p:cNvGraphicFramePr/>
          <p:nvPr/>
        </p:nvGraphicFramePr>
        <p:xfrm>
          <a:off x="8001000" y="1874520"/>
          <a:ext cx="347472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4" name="Text 9"/>
          <p:cNvSpPr txBox="1"/>
          <p:nvPr/>
        </p:nvSpPr>
        <p:spPr>
          <a:xfrm>
            <a:off x="8092440" y="4343400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4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5 of 122 customers (4%) generated ~21% of 2004 revenue.</a:t>
            </a:r>
            <a:endParaRPr lang="en-US" sz="1150" dirty="0"/>
          </a:p>
        </p:txBody>
      </p:sp>
      <p:sp>
        <p:nvSpPr>
          <p:cNvPr id="15" name="Text 10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6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ClassicModels Sales Analysis — 2004 Performance Review</a:t>
            </a:r>
            <a:endParaRPr lang="en-US" sz="900" dirty="0"/>
          </a:p>
        </p:txBody>
      </p:sp>
      <p:sp>
        <p:nvSpPr>
          <p:cNvPr id="16" name="Text 11"/>
          <p:cNvSpPr txBox="1"/>
          <p:nvPr/>
        </p:nvSpPr>
        <p:spPr>
          <a:xfrm>
            <a:off x="9875520" y="6537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6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Bhawna Kumari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Quarter of Customers Drive Nearly Half of Revenue</a:t>
            </a:r>
            <a:endParaRPr lang="en-US" sz="2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A6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 by total payments received, 2003–05 (Gold ≥ $100K, Silver $50K–100K, Bronze &lt; $50K)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3291840"/>
          </a:xfrm>
          <a:prstGeom prst="roundRect">
            <a:avLst>
              <a:gd name="adj" fmla="val 2222"/>
            </a:avLst>
          </a:prstGeom>
          <a:solidFill>
            <a:srgbClr val="FBEEEE"/>
          </a:solidFill>
          <a:ln w="12700">
            <a:solidFill>
              <a:srgbClr val="F0D6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943100" y="1965960"/>
            <a:ext cx="731520" cy="73152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943100" y="1965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8346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Gold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2461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4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customers (26%)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65760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24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$4.18M — 47% of revenue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89120" y="1691640"/>
            <a:ext cx="3520440" cy="3291840"/>
          </a:xfrm>
          <a:prstGeom prst="roundRect">
            <a:avLst>
              <a:gd name="adj" fmla="val 2222"/>
            </a:avLst>
          </a:prstGeom>
          <a:solidFill>
            <a:srgbClr val="FBEEEE"/>
          </a:solidFill>
          <a:ln w="12700">
            <a:solidFill>
              <a:srgbClr val="F0D6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783580" y="1965960"/>
            <a:ext cx="731520" cy="731520"/>
          </a:xfrm>
          <a:prstGeom prst="ellipse">
            <a:avLst/>
          </a:prstGeom>
          <a:solidFill>
            <a:srgbClr val="A6A6A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783580" y="1965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28346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Silver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0" y="32461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4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 customers (54%)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0" y="365760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24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$3.96M — 45% of revenue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29600" y="1691640"/>
            <a:ext cx="3520440" cy="3291840"/>
          </a:xfrm>
          <a:prstGeom prst="roundRect">
            <a:avLst>
              <a:gd name="adj" fmla="val 2222"/>
            </a:avLst>
          </a:prstGeom>
          <a:solidFill>
            <a:srgbClr val="FBEEEE"/>
          </a:solidFill>
          <a:ln w="12700">
            <a:solidFill>
              <a:srgbClr val="F0D6D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624060" y="1965960"/>
            <a:ext cx="731520" cy="731520"/>
          </a:xfrm>
          <a:prstGeom prst="ellipse">
            <a:avLst/>
          </a:prstGeom>
          <a:solidFill>
            <a:srgbClr val="AD6F45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624060" y="1965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8412480" y="28346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Bronze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412480" y="32461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4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customers (20%)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8412480" y="365760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24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$0.71M — 8% of revenue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5212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7A6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Gold-tier customers are just over a quarter of the base but generate nearly half of all revenue — a strong case for a dedicated key-account program rather than treating every customer the same.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6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ClassicModels Sales Analysis — 2004 Performance Review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9875520" y="6537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6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Bhawna Kumari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9900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Recommendations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11064240" cy="1508760"/>
          </a:xfrm>
          <a:prstGeom prst="roundRect">
            <a:avLst>
              <a:gd name="adj" fmla="val 4848"/>
            </a:avLst>
          </a:prstGeom>
          <a:solidFill>
            <a:srgbClr val="B32233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2011680"/>
            <a:ext cx="685800" cy="685800"/>
          </a:xfrm>
          <a:prstGeom prst="ellipse">
            <a:avLst/>
          </a:prstGeom>
          <a:solidFill>
            <a:srgbClr val="FCF6F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20116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1874520" y="1764792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CF6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inventory around the November spike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1874520" y="2167128"/>
            <a:ext cx="9509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revenue nearly doubling in November, stock and staffing should ramp ahead of Q4 rather than reactively — protecting fulfillment during the year's most critical month.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3264408"/>
            <a:ext cx="11064240" cy="1508760"/>
          </a:xfrm>
          <a:prstGeom prst="roundRect">
            <a:avLst>
              <a:gd name="adj" fmla="val 4848"/>
            </a:avLst>
          </a:prstGeom>
          <a:solidFill>
            <a:srgbClr val="B32233"/>
          </a:solidFill>
          <a:ln/>
        </p:spPr>
      </p:sp>
      <p:sp>
        <p:nvSpPr>
          <p:cNvPr id="9" name="Shape 7"/>
          <p:cNvSpPr/>
          <p:nvPr/>
        </p:nvSpPr>
        <p:spPr>
          <a:xfrm>
            <a:off x="868680" y="3675888"/>
            <a:ext cx="685800" cy="685800"/>
          </a:xfrm>
          <a:prstGeom prst="ellipse">
            <a:avLst/>
          </a:prstGeom>
          <a:solidFill>
            <a:srgbClr val="FCF6F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3675888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1874520" y="3429000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CF6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Diversify beyond Classic Cars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1874520" y="3831336"/>
            <a:ext cx="9509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72.5% of revenue, the Classic Cars line represents concentration risk. Cross-selling Motorcycles and Planes to existing Classic Car buyers is a natural next step.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4928616"/>
            <a:ext cx="11064240" cy="1508760"/>
          </a:xfrm>
          <a:prstGeom prst="roundRect">
            <a:avLst>
              <a:gd name="adj" fmla="val 4848"/>
            </a:avLst>
          </a:prstGeom>
          <a:solidFill>
            <a:srgbClr val="B32233"/>
          </a:solidFill>
          <a:ln/>
        </p:spPr>
      </p:sp>
      <p:sp>
        <p:nvSpPr>
          <p:cNvPr id="14" name="Shape 12"/>
          <p:cNvSpPr/>
          <p:nvPr/>
        </p:nvSpPr>
        <p:spPr>
          <a:xfrm>
            <a:off x="868680" y="5340096"/>
            <a:ext cx="685800" cy="685800"/>
          </a:xfrm>
          <a:prstGeom prst="ellipse">
            <a:avLst/>
          </a:prstGeom>
          <a:solidFill>
            <a:srgbClr val="FCF6F5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68680" y="5340096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1874520" y="5093208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CF6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Protect and grow key accounts, and re-engage the USA</a:t>
            </a:r>
            <a:endParaRPr lang="en-US" sz="1550" dirty="0"/>
          </a:p>
        </p:txBody>
      </p:sp>
      <p:sp>
        <p:nvSpPr>
          <p:cNvPr id="17" name="Text 15"/>
          <p:cNvSpPr txBox="1"/>
          <p:nvPr/>
        </p:nvSpPr>
        <p:spPr>
          <a:xfrm>
            <a:off x="1874520" y="5495544"/>
            <a:ext cx="9509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 5 customers already drive ~21% of revenue — dedicated account management protects that base, while the USA's absence from the top 5 (despite having the most customers) signals an untapped growth market.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ClassicModels Sales Analysis — 2004 Performance Review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9875520" y="6537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Bhawna Kumari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Skills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BEEEE"/>
          </a:solidFill>
          <a:ln w="12700">
            <a:solidFill>
              <a:srgbClr val="F0D6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2103120"/>
            <a:ext cx="502920" cy="50292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CF6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7432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MySQL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246120"/>
            <a:ext cx="2240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4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8-table schema, joins, CTEs, and window functions across orders and payments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3280" y="182880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BEEEE"/>
          </a:solidFill>
          <a:ln w="12700">
            <a:solidFill>
              <a:srgbClr val="F0D6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11880" y="2103120"/>
            <a:ext cx="502920" cy="50292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61188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CF6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566160" y="27432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Window Functions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3566160" y="3246120"/>
            <a:ext cx="2240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4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ROW_NUMBER() for top customer/product rankings; LAG() for MoM and order-over-order growth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182880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BEEEE"/>
          </a:solidFill>
          <a:ln w="12700">
            <a:solidFill>
              <a:srgbClr val="F0D6D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46520" y="2103120"/>
            <a:ext cx="502920" cy="50292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4652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CF6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0" y="27432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Segmentation</a:t>
            </a:r>
            <a:endParaRPr lang="en-US" sz="1550" dirty="0"/>
          </a:p>
        </p:txBody>
      </p:sp>
      <p:sp>
        <p:nvSpPr>
          <p:cNvPr id="17" name="Text 15"/>
          <p:cNvSpPr txBox="1"/>
          <p:nvPr/>
        </p:nvSpPr>
        <p:spPr>
          <a:xfrm>
            <a:off x="6400800" y="3246120"/>
            <a:ext cx="2240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4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CASE-based Gold/Silver/Bronze tiers and above-average spend detection via CTEs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052560" y="182880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BEEEE"/>
          </a:solidFill>
          <a:ln w="12700">
            <a:solidFill>
              <a:srgbClr val="F0D6D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281160" y="2103120"/>
            <a:ext cx="502920" cy="502920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28116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CF6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9235440" y="27432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 + DAX</a:t>
            </a:r>
            <a:endParaRPr lang="en-US" sz="1550" dirty="0"/>
          </a:p>
        </p:txBody>
      </p:sp>
      <p:sp>
        <p:nvSpPr>
          <p:cNvPr id="22" name="Text 20"/>
          <p:cNvSpPr txBox="1"/>
          <p:nvPr/>
        </p:nvSpPr>
        <p:spPr>
          <a:xfrm>
            <a:off x="9235440" y="3246120"/>
            <a:ext cx="2240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4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 with year slicers, drill-downs, and custom revenue/AOV measures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6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ClassicModels Sales Analysis — 2004 Performance Review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9875520" y="6537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61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Bhawna Kumari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9900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371600"/>
            <a:ext cx="4572000" cy="4572000"/>
          </a:xfrm>
          <a:prstGeom prst="ellipse">
            <a:avLst/>
          </a:prstGeom>
          <a:solidFill>
            <a:srgbClr val="B3223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237744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Connect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1089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SQL scripts, dashboard file, and write-up available on GitHub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9319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Bhawna Kumari  |  Aspiring Data Analyst  |  SQL • Power BI • Python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2026-09-06T16:19:27Z</dcterms:created>
  <dcterms:modified xsi:type="dcterms:W3CDTF">2026-09-06T16:19:27Z</dcterms:modified>
</cp:coreProperties>
</file>